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8288000" cy="10287000"/>
  <p:notesSz cx="6858000" cy="9144000"/>
  <p:embeddedFontLst>
    <p:embeddedFont>
      <p:font typeface="Horizon" panose="020B0604020202020204" charset="0"/>
      <p:regular r:id="rId19"/>
    </p:embeddedFont>
    <p:embeddedFont>
      <p:font typeface="Poppins" panose="020B0502040204020203" pitchFamily="2" charset="0"/>
      <p:regular r:id="rId20"/>
    </p:embeddedFont>
    <p:embeddedFont>
      <p:font typeface="Poppins Bold" panose="020B0604020202020204" charset="0"/>
      <p:regular r:id="rId21"/>
    </p:embeddedFont>
    <p:embeddedFont>
      <p:font typeface="Poppins Bold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24041" y="3871599"/>
            <a:ext cx="14569766" cy="2747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0"/>
              </a:lnSpc>
              <a:spcBef>
                <a:spcPct val="0"/>
              </a:spcBef>
            </a:pPr>
            <a:r>
              <a:rPr lang="en-US" sz="5100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Advanced 32-bit ALU with RAM, CU, and Program Counter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08866" y="1362936"/>
            <a:ext cx="5678559" cy="48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2"/>
              </a:lnSpc>
              <a:spcBef>
                <a:spcPct val="0"/>
              </a:spcBef>
            </a:pPr>
            <a:r>
              <a:rPr lang="en-US" sz="2644" u="sng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INTRODUCTION TO ALU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41003" y="920716"/>
            <a:ext cx="7865662" cy="8500880"/>
            <a:chOff x="0" y="0"/>
            <a:chExt cx="2071615" cy="22389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1615" cy="2238915"/>
            </a:xfrm>
            <a:custGeom>
              <a:avLst/>
              <a:gdLst/>
              <a:ahLst/>
              <a:cxnLst/>
              <a:rect l="l" t="t" r="r" b="b"/>
              <a:pathLst>
                <a:path w="2071615" h="2238915">
                  <a:moveTo>
                    <a:pt x="21654" y="0"/>
                  </a:moveTo>
                  <a:lnTo>
                    <a:pt x="2049961" y="0"/>
                  </a:lnTo>
                  <a:cubicBezTo>
                    <a:pt x="2055704" y="0"/>
                    <a:pt x="2061211" y="2281"/>
                    <a:pt x="2065272" y="6342"/>
                  </a:cubicBezTo>
                  <a:cubicBezTo>
                    <a:pt x="2069333" y="10403"/>
                    <a:pt x="2071615" y="15911"/>
                    <a:pt x="2071615" y="21654"/>
                  </a:cubicBezTo>
                  <a:lnTo>
                    <a:pt x="2071615" y="2217261"/>
                  </a:lnTo>
                  <a:cubicBezTo>
                    <a:pt x="2071615" y="2223004"/>
                    <a:pt x="2069333" y="2228512"/>
                    <a:pt x="2065272" y="2232573"/>
                  </a:cubicBezTo>
                  <a:cubicBezTo>
                    <a:pt x="2061211" y="2236634"/>
                    <a:pt x="2055704" y="2238915"/>
                    <a:pt x="2049961" y="2238915"/>
                  </a:cubicBezTo>
                  <a:lnTo>
                    <a:pt x="21654" y="2238915"/>
                  </a:lnTo>
                  <a:cubicBezTo>
                    <a:pt x="15911" y="2238915"/>
                    <a:pt x="10403" y="2236634"/>
                    <a:pt x="6342" y="2232573"/>
                  </a:cubicBezTo>
                  <a:cubicBezTo>
                    <a:pt x="2281" y="2228512"/>
                    <a:pt x="0" y="2223004"/>
                    <a:pt x="0" y="2217261"/>
                  </a:cubicBezTo>
                  <a:lnTo>
                    <a:pt x="0" y="21654"/>
                  </a:lnTo>
                  <a:cubicBezTo>
                    <a:pt x="0" y="15911"/>
                    <a:pt x="2281" y="10403"/>
                    <a:pt x="6342" y="6342"/>
                  </a:cubicBezTo>
                  <a:cubicBezTo>
                    <a:pt x="10403" y="2281"/>
                    <a:pt x="15911" y="0"/>
                    <a:pt x="2165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071615" cy="2305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595029" y="2083689"/>
            <a:ext cx="7557609" cy="7117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5966" lvl="1" indent="-272983" algn="l">
              <a:lnSpc>
                <a:spcPts val="3540"/>
              </a:lnSpc>
              <a:buFont typeface="Arial"/>
              <a:buChar char="•"/>
            </a:pPr>
            <a:r>
              <a:rPr lang="en-US" sz="2528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Integrated RAM provides temporary storage for operands and results within the ALU system.</a:t>
            </a:r>
          </a:p>
          <a:p>
            <a:pPr marL="545966" lvl="1" indent="-272983" algn="l">
              <a:lnSpc>
                <a:spcPts val="3540"/>
              </a:lnSpc>
              <a:buFont typeface="Arial"/>
              <a:buChar char="•"/>
            </a:pPr>
            <a:r>
              <a:rPr lang="en-US" sz="2528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It is typically a small memory array (e.g., 256 x 32-bit) with read/write capabilities.</a:t>
            </a:r>
          </a:p>
          <a:p>
            <a:pPr marL="545966" lvl="1" indent="-272983" algn="l">
              <a:lnSpc>
                <a:spcPts val="3540"/>
              </a:lnSpc>
              <a:buFont typeface="Arial"/>
              <a:buChar char="•"/>
            </a:pPr>
            <a:r>
              <a:rPr lang="en-US" sz="2528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ALU reads input data from RAM, performs operations, and writes the result back.</a:t>
            </a:r>
          </a:p>
          <a:p>
            <a:pPr marL="545966" lvl="1" indent="-272983" algn="l">
              <a:lnSpc>
                <a:spcPts val="3540"/>
              </a:lnSpc>
              <a:buFont typeface="Arial"/>
              <a:buChar char="•"/>
            </a:pPr>
            <a:r>
              <a:rPr lang="en-US" sz="2528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Controlled using signals like address, write_enable, data_in, and data_out.Mimics how a real processor interacts with memory for instruction and data processing.</a:t>
            </a:r>
          </a:p>
          <a:p>
            <a:pPr marL="524376" lvl="1" indent="-262188" algn="l">
              <a:lnSpc>
                <a:spcPts val="3400"/>
              </a:lnSpc>
              <a:buFont typeface="Arial"/>
              <a:buChar char="•"/>
            </a:pPr>
            <a:r>
              <a:rPr lang="en-US" sz="2428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Enables efficient data flow, testing, and operation sequencing in ALU-based designs.</a:t>
            </a:r>
          </a:p>
          <a:p>
            <a:pPr algn="l">
              <a:lnSpc>
                <a:spcPts val="3540"/>
              </a:lnSpc>
              <a:spcBef>
                <a:spcPct val="0"/>
              </a:spcBef>
            </a:pPr>
            <a:endParaRPr lang="en-US" sz="2428" b="1" i="1">
              <a:solidFill>
                <a:srgbClr val="FDFEFE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28700" y="920716"/>
            <a:ext cx="7803815" cy="8500880"/>
            <a:chOff x="0" y="0"/>
            <a:chExt cx="2055326" cy="22389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55326" cy="2238915"/>
            </a:xfrm>
            <a:custGeom>
              <a:avLst/>
              <a:gdLst/>
              <a:ahLst/>
              <a:cxnLst/>
              <a:rect l="l" t="t" r="r" b="b"/>
              <a:pathLst>
                <a:path w="2055326" h="2238915">
                  <a:moveTo>
                    <a:pt x="21826" y="0"/>
                  </a:moveTo>
                  <a:lnTo>
                    <a:pt x="2033500" y="0"/>
                  </a:lnTo>
                  <a:cubicBezTo>
                    <a:pt x="2039289" y="0"/>
                    <a:pt x="2044840" y="2299"/>
                    <a:pt x="2048933" y="6393"/>
                  </a:cubicBezTo>
                  <a:cubicBezTo>
                    <a:pt x="2053026" y="10486"/>
                    <a:pt x="2055326" y="16037"/>
                    <a:pt x="2055326" y="21826"/>
                  </a:cubicBezTo>
                  <a:lnTo>
                    <a:pt x="2055326" y="2217090"/>
                  </a:lnTo>
                  <a:cubicBezTo>
                    <a:pt x="2055326" y="2222878"/>
                    <a:pt x="2053026" y="2228429"/>
                    <a:pt x="2048933" y="2232523"/>
                  </a:cubicBezTo>
                  <a:cubicBezTo>
                    <a:pt x="2044840" y="2236616"/>
                    <a:pt x="2039289" y="2238915"/>
                    <a:pt x="2033500" y="2238915"/>
                  </a:cubicBezTo>
                  <a:lnTo>
                    <a:pt x="21826" y="2238915"/>
                  </a:lnTo>
                  <a:cubicBezTo>
                    <a:pt x="16037" y="2238915"/>
                    <a:pt x="10486" y="2236616"/>
                    <a:pt x="6393" y="2232523"/>
                  </a:cubicBezTo>
                  <a:cubicBezTo>
                    <a:pt x="2299" y="2228429"/>
                    <a:pt x="0" y="2222878"/>
                    <a:pt x="0" y="2217090"/>
                  </a:cubicBezTo>
                  <a:lnTo>
                    <a:pt x="0" y="21826"/>
                  </a:lnTo>
                  <a:cubicBezTo>
                    <a:pt x="0" y="16037"/>
                    <a:pt x="2299" y="10486"/>
                    <a:pt x="6393" y="6393"/>
                  </a:cubicBezTo>
                  <a:cubicBezTo>
                    <a:pt x="10486" y="2299"/>
                    <a:pt x="16037" y="0"/>
                    <a:pt x="218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055326" cy="2305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89831" y="2093214"/>
            <a:ext cx="7146472" cy="7934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8893" lvl="1" indent="-284446" algn="l">
              <a:lnSpc>
                <a:spcPts val="3688"/>
              </a:lnSpc>
              <a:buFont typeface="Arial"/>
              <a:buChar char="•"/>
            </a:pPr>
            <a:r>
              <a:rPr lang="en-US" sz="2634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ALU stands for Arithmetic Logic Unit. It is a fundamental component of the CPU.</a:t>
            </a:r>
          </a:p>
          <a:p>
            <a:pPr marL="568893" lvl="1" indent="-284446" algn="l">
              <a:lnSpc>
                <a:spcPts val="3688"/>
              </a:lnSpc>
              <a:buFont typeface="Arial"/>
              <a:buChar char="•"/>
            </a:pPr>
            <a:r>
              <a:rPr lang="en-US" sz="2634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Performs arithmetic operations like addition and subtraction.</a:t>
            </a:r>
          </a:p>
          <a:p>
            <a:pPr marL="568893" lvl="1" indent="-284446" algn="l">
              <a:lnSpc>
                <a:spcPts val="3688"/>
              </a:lnSpc>
              <a:buFont typeface="Arial"/>
              <a:buChar char="•"/>
            </a:pPr>
            <a:r>
              <a:rPr lang="en-US" sz="2634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Executes logic operations like AND, OR, XOR, and NOT. Operates on binary input data (usually two operands).</a:t>
            </a:r>
          </a:p>
          <a:p>
            <a:pPr marL="568893" lvl="1" indent="-284446" algn="l">
              <a:lnSpc>
                <a:spcPts val="3688"/>
              </a:lnSpc>
              <a:buFont typeface="Arial"/>
              <a:buChar char="•"/>
            </a:pPr>
            <a:r>
              <a:rPr lang="en-US" sz="2634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Plays a crucial role in data processing and decision-making.</a:t>
            </a:r>
          </a:p>
          <a:p>
            <a:pPr marL="568893" lvl="1" indent="-284446" algn="l">
              <a:lnSpc>
                <a:spcPts val="3688"/>
              </a:lnSpc>
              <a:buFont typeface="Arial"/>
              <a:buChar char="•"/>
            </a:pPr>
            <a:r>
              <a:rPr lang="en-US" sz="2634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Can be integrated with memory (RAM) for data storage and retrieval.</a:t>
            </a:r>
          </a:p>
          <a:p>
            <a:pPr marL="568893" lvl="1" indent="-284446" algn="l">
              <a:lnSpc>
                <a:spcPts val="3688"/>
              </a:lnSpc>
              <a:buFont typeface="Arial"/>
              <a:buChar char="•"/>
            </a:pPr>
            <a:r>
              <a:rPr lang="en-US" sz="2634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Used in all digital systems—from simple microcontrollers to complex CPUs.</a:t>
            </a:r>
          </a:p>
          <a:p>
            <a:pPr algn="l">
              <a:lnSpc>
                <a:spcPts val="3688"/>
              </a:lnSpc>
              <a:spcBef>
                <a:spcPct val="0"/>
              </a:spcBef>
            </a:pPr>
            <a:endParaRPr lang="en-US" sz="2634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88"/>
              </a:lnSpc>
              <a:spcBef>
                <a:spcPct val="0"/>
              </a:spcBef>
            </a:pPr>
            <a:endParaRPr lang="en-US" sz="2634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369630" y="1362936"/>
            <a:ext cx="6008407" cy="48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2"/>
              </a:lnSpc>
              <a:spcBef>
                <a:spcPct val="0"/>
              </a:spcBef>
            </a:pPr>
            <a:r>
              <a:rPr lang="en-US" sz="2644" u="sng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INTRODUCTION TO 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85600" y="1054843"/>
            <a:ext cx="13894185" cy="71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  <a:spcBef>
                <a:spcPct val="0"/>
              </a:spcBef>
            </a:pPr>
            <a:r>
              <a:rPr lang="en-US" sz="3960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WHY WE NEED EXTENSION ON THIS?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96907" y="2055116"/>
            <a:ext cx="13545051" cy="3844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1. Automation of Instruction Execution</a:t>
            </a:r>
          </a:p>
          <a:p>
            <a:pPr marL="582924" lvl="1" indent="-291462" algn="l">
              <a:lnSpc>
                <a:spcPts val="3779"/>
              </a:lnSpc>
              <a:buFont typeface="Arial"/>
              <a:buChar char="•"/>
            </a:pPr>
            <a:r>
              <a:rPr lang="en-US" sz="26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 standalone ALU + RAM setup requires manual control for each operation.</a:t>
            </a:r>
          </a:p>
          <a:p>
            <a:pPr marL="582924" lvl="1" indent="-291462" algn="l">
              <a:lnSpc>
                <a:spcPts val="3779"/>
              </a:lnSpc>
              <a:buFont typeface="Arial"/>
              <a:buChar char="•"/>
            </a:pPr>
            <a:r>
              <a:rPr lang="en-US" sz="26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Without a Control Unit, the system can't interpret or execute instructions on its own.</a:t>
            </a:r>
          </a:p>
          <a:p>
            <a:pPr marL="582924" lvl="1" indent="-291462" algn="l">
              <a:lnSpc>
                <a:spcPts val="3779"/>
              </a:lnSpc>
              <a:buFont typeface="Arial"/>
              <a:buChar char="•"/>
            </a:pPr>
            <a:r>
              <a:rPr lang="en-US" sz="26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The extension allows for automatic instruction fetching, decoding, execution, and storing—just like a basic CPU.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699" b="1" i="1">
              <a:solidFill>
                <a:srgbClr val="FDFEFE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196907" y="5666941"/>
            <a:ext cx="13545051" cy="3844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2. Sequential Execution with Program Counter</a:t>
            </a:r>
          </a:p>
          <a:p>
            <a:pPr marL="582924" lvl="1" indent="-291462" algn="l">
              <a:lnSpc>
                <a:spcPts val="3779"/>
              </a:lnSpc>
              <a:buFont typeface="Arial"/>
              <a:buChar char="•"/>
            </a:pPr>
            <a:r>
              <a:rPr lang="en-US" sz="26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The Program Counter (PC) keeps track of which instruction to execute next.</a:t>
            </a:r>
          </a:p>
          <a:p>
            <a:pPr marL="582924" lvl="1" indent="-291462" algn="l">
              <a:lnSpc>
                <a:spcPts val="3779"/>
              </a:lnSpc>
              <a:buFont typeface="Arial"/>
              <a:buChar char="•"/>
            </a:pPr>
            <a:r>
              <a:rPr lang="en-US" sz="26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It automatically increments to point to the next instruction, enabling step-by-step execution.</a:t>
            </a:r>
          </a:p>
          <a:p>
            <a:pPr marL="582924" lvl="1" indent="-291462" algn="l">
              <a:lnSpc>
                <a:spcPts val="3779"/>
              </a:lnSpc>
              <a:buFont typeface="Arial"/>
              <a:buChar char="•"/>
            </a:pPr>
            <a:r>
              <a:rPr lang="en-US" sz="26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Without a PC, each instruction has to be manually triggered, which is inefficient and unrealistic for real-world systems.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699" b="1" i="1">
              <a:solidFill>
                <a:srgbClr val="FDFEFE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54843"/>
            <a:ext cx="13894185" cy="71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  <a:spcBef>
                <a:spcPct val="0"/>
              </a:spcBef>
            </a:pPr>
            <a:r>
              <a:rPr lang="en-US" sz="3960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WHY WE NEED EXTENSION ON THIS?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49875" y="2028565"/>
            <a:ext cx="14586149" cy="9587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2" lvl="1" indent="-313051" algn="l">
              <a:lnSpc>
                <a:spcPts val="4059"/>
              </a:lnSpc>
              <a:buFont typeface="Arial"/>
              <a:buChar char="•"/>
            </a:pPr>
            <a:r>
              <a:rPr lang="en-US" sz="28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The Control Unit (CU) interprets the operation code (opcode) and generates the required control signals.</a:t>
            </a:r>
          </a:p>
          <a:p>
            <a:pPr marL="626102" lvl="1" indent="-313051" algn="l">
              <a:lnSpc>
                <a:spcPts val="4059"/>
              </a:lnSpc>
              <a:buFont typeface="Arial"/>
              <a:buChar char="•"/>
            </a:pPr>
            <a:r>
              <a:rPr lang="en-US" sz="28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These signals guide the ALU and RAM on what to do—like whether to perform addition, load data, or store results.</a:t>
            </a:r>
          </a:p>
          <a:p>
            <a:pPr marL="626102" lvl="1" indent="-313051" algn="l">
              <a:lnSpc>
                <a:spcPts val="4059"/>
              </a:lnSpc>
              <a:buFont typeface="Arial"/>
              <a:buChar char="•"/>
            </a:pPr>
            <a:r>
              <a:rPr lang="en-US" sz="28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CU acts like the brain of the system, managing operations based on the instructions.</a:t>
            </a:r>
          </a:p>
          <a:p>
            <a:pPr marL="626102" lvl="1" indent="-313051" algn="l">
              <a:lnSpc>
                <a:spcPts val="4059"/>
              </a:lnSpc>
              <a:buFont typeface="Arial"/>
              <a:buChar char="•"/>
            </a:pPr>
            <a:r>
              <a:rPr lang="en-US" sz="28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 modern processors, execution is based on a cycle:</a:t>
            </a:r>
          </a:p>
          <a:p>
            <a:pPr algn="l">
              <a:lnSpc>
                <a:spcPts val="4059"/>
              </a:lnSpc>
            </a:pPr>
            <a:r>
              <a:rPr lang="en-US" sz="28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                             Fetch → Decode → Execute → Store.</a:t>
            </a:r>
          </a:p>
          <a:p>
            <a:pPr marL="626102" lvl="1" indent="-313051" algn="l">
              <a:lnSpc>
                <a:spcPts val="4059"/>
              </a:lnSpc>
              <a:buFont typeface="Arial"/>
              <a:buChar char="•"/>
            </a:pPr>
            <a:r>
              <a:rPr lang="en-US" sz="28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By adding a CU and PC, we replicate this architecture and lay the foundation for a real programmable processor.</a:t>
            </a:r>
          </a:p>
          <a:p>
            <a:pPr marL="626102" lvl="1" indent="-313051" algn="l">
              <a:lnSpc>
                <a:spcPts val="4059"/>
              </a:lnSpc>
              <a:buFont typeface="Arial"/>
              <a:buChar char="•"/>
            </a:pPr>
            <a:r>
              <a:rPr lang="en-US" sz="28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The extension with Control Unit and Program Counter transforms a basic calculator-like ALU into a smart, instruction-driven mini-processor capable of sequential and conditional execution—bringing it closer to how real-world CPUs operate.</a:t>
            </a:r>
          </a:p>
          <a:p>
            <a:pPr algn="l">
              <a:lnSpc>
                <a:spcPts val="3779"/>
              </a:lnSpc>
            </a:pPr>
            <a:endParaRPr lang="en-US" sz="2899" b="1" i="1">
              <a:solidFill>
                <a:srgbClr val="FDFEFE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  <a:p>
            <a:pPr algn="l">
              <a:lnSpc>
                <a:spcPts val="3779"/>
              </a:lnSpc>
            </a:pPr>
            <a:endParaRPr lang="en-US" sz="2899" b="1" i="1">
              <a:solidFill>
                <a:srgbClr val="FDFEFE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899" b="1" i="1">
              <a:solidFill>
                <a:srgbClr val="FDFEFE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899" b="1" i="1">
              <a:solidFill>
                <a:srgbClr val="FDFEFE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899" b="1" i="1">
              <a:solidFill>
                <a:srgbClr val="FDFEFE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04875"/>
            <a:ext cx="13894185" cy="71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  <a:spcBef>
                <a:spcPct val="0"/>
              </a:spcBef>
            </a:pPr>
            <a:r>
              <a:rPr lang="en-US" sz="3960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CONTROL UNIT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49875" y="2009515"/>
            <a:ext cx="14586149" cy="653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Heart of the CPU:</a:t>
            </a:r>
          </a:p>
          <a:p>
            <a:pPr marL="669281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Controls and directs all operations inside the CPU.</a:t>
            </a:r>
          </a:p>
          <a:p>
            <a:pPr algn="l">
              <a:lnSpc>
                <a:spcPts val="4339"/>
              </a:lnSpc>
            </a:pPr>
            <a:r>
              <a:rPr lang="en-US" sz="30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Instruction Decoder:</a:t>
            </a:r>
          </a:p>
          <a:p>
            <a:pPr marL="669281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Reads and understands the instructions from memory.</a:t>
            </a:r>
          </a:p>
          <a:p>
            <a:pPr algn="l">
              <a:lnSpc>
                <a:spcPts val="4339"/>
              </a:lnSpc>
            </a:pPr>
            <a:r>
              <a:rPr lang="en-US" sz="30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Generates Control Signals:</a:t>
            </a:r>
          </a:p>
          <a:p>
            <a:pPr marL="669281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Sends signals to ALU, RAM, and PC to perform tasks in the right order.</a:t>
            </a:r>
          </a:p>
          <a:p>
            <a:pPr algn="l">
              <a:lnSpc>
                <a:spcPts val="4339"/>
              </a:lnSpc>
            </a:pPr>
            <a:r>
              <a:rPr lang="en-US" sz="30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Controls Data Flow:</a:t>
            </a:r>
          </a:p>
          <a:p>
            <a:pPr marL="669281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Manages how data moves between CPU, memory, and I/O devices.</a:t>
            </a:r>
          </a:p>
          <a:p>
            <a:pPr algn="l">
              <a:lnSpc>
                <a:spcPts val="4339"/>
              </a:lnSpc>
            </a:pPr>
            <a:r>
              <a:rPr lang="en-US" sz="30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Ensures Synchronization:</a:t>
            </a:r>
          </a:p>
          <a:p>
            <a:pPr marL="669281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b="1" i="1">
                <a:solidFill>
                  <a:srgbClr val="FDFEF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Makes sure all parts of the CPU work together with each clock cycle.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endParaRPr lang="en-US" sz="3099" b="1" i="1">
              <a:solidFill>
                <a:srgbClr val="FDFEFE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079062" y="1313540"/>
            <a:ext cx="10476909" cy="6655781"/>
            <a:chOff x="0" y="0"/>
            <a:chExt cx="1623147" cy="10311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23147" cy="1031155"/>
            </a:xfrm>
            <a:custGeom>
              <a:avLst/>
              <a:gdLst/>
              <a:ahLst/>
              <a:cxnLst/>
              <a:rect l="l" t="t" r="r" b="b"/>
              <a:pathLst>
                <a:path w="1623147" h="1031155">
                  <a:moveTo>
                    <a:pt x="16257" y="0"/>
                  </a:moveTo>
                  <a:lnTo>
                    <a:pt x="1606890" y="0"/>
                  </a:lnTo>
                  <a:cubicBezTo>
                    <a:pt x="1611202" y="0"/>
                    <a:pt x="1615337" y="1713"/>
                    <a:pt x="1618386" y="4762"/>
                  </a:cubicBezTo>
                  <a:cubicBezTo>
                    <a:pt x="1621435" y="7810"/>
                    <a:pt x="1623147" y="11945"/>
                    <a:pt x="1623147" y="16257"/>
                  </a:cubicBezTo>
                  <a:lnTo>
                    <a:pt x="1623147" y="1014898"/>
                  </a:lnTo>
                  <a:cubicBezTo>
                    <a:pt x="1623147" y="1019209"/>
                    <a:pt x="1621435" y="1023344"/>
                    <a:pt x="1618386" y="1026393"/>
                  </a:cubicBezTo>
                  <a:cubicBezTo>
                    <a:pt x="1615337" y="1029442"/>
                    <a:pt x="1611202" y="1031155"/>
                    <a:pt x="1606890" y="1031155"/>
                  </a:cubicBezTo>
                  <a:lnTo>
                    <a:pt x="16257" y="1031155"/>
                  </a:lnTo>
                  <a:cubicBezTo>
                    <a:pt x="11945" y="1031155"/>
                    <a:pt x="7810" y="1029442"/>
                    <a:pt x="4762" y="1026393"/>
                  </a:cubicBezTo>
                  <a:cubicBezTo>
                    <a:pt x="1713" y="1023344"/>
                    <a:pt x="0" y="1019209"/>
                    <a:pt x="0" y="1014898"/>
                  </a:cubicBezTo>
                  <a:lnTo>
                    <a:pt x="0" y="16257"/>
                  </a:lnTo>
                  <a:cubicBezTo>
                    <a:pt x="0" y="11945"/>
                    <a:pt x="1713" y="7810"/>
                    <a:pt x="4762" y="4762"/>
                  </a:cubicBezTo>
                  <a:cubicBezTo>
                    <a:pt x="7810" y="1713"/>
                    <a:pt x="11945" y="0"/>
                    <a:pt x="16257" y="0"/>
                  </a:cubicBezTo>
                  <a:close/>
                </a:path>
              </a:pathLst>
            </a:custGeom>
            <a:blipFill>
              <a:blip r:embed="rId3"/>
              <a:stretch>
                <a:fillRect t="-2374" b="-2374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04875"/>
            <a:ext cx="13894185" cy="71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  <a:spcBef>
                <a:spcPct val="0"/>
              </a:spcBef>
            </a:pPr>
            <a:r>
              <a:rPr lang="en-US" sz="3960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PROGRAM COUNTER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42620" y="2409227"/>
            <a:ext cx="14586149" cy="7219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Tracks Instruction Location:</a:t>
            </a:r>
          </a:p>
          <a:p>
            <a:pPr marL="734050" lvl="1" indent="-367025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 Holds the address of the next instruction.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Increments Automatically:</a:t>
            </a:r>
          </a:p>
          <a:p>
            <a:pPr marL="734050" lvl="1" indent="-367025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 Moves to the next instruction after each execution.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Supports Jumps and Branches:</a:t>
            </a:r>
          </a:p>
          <a:p>
            <a:pPr marL="734050" lvl="1" indent="-367025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 Updates address during loops or condition changes.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Controls Program Flow:</a:t>
            </a:r>
          </a:p>
          <a:p>
            <a:pPr marL="734050" lvl="1" indent="-367025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Helps run instructions in the right order.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Works with Control Unit:</a:t>
            </a:r>
          </a:p>
          <a:p>
            <a:pPr marL="734050" lvl="1" indent="-367025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 CU uses PC to fetch instructions smoothly.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079062" y="1313540"/>
            <a:ext cx="10476909" cy="6655781"/>
            <a:chOff x="0" y="0"/>
            <a:chExt cx="1623147" cy="10311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23147" cy="1031155"/>
            </a:xfrm>
            <a:custGeom>
              <a:avLst/>
              <a:gdLst/>
              <a:ahLst/>
              <a:cxnLst/>
              <a:rect l="l" t="t" r="r" b="b"/>
              <a:pathLst>
                <a:path w="1623147" h="1031155">
                  <a:moveTo>
                    <a:pt x="16257" y="0"/>
                  </a:moveTo>
                  <a:lnTo>
                    <a:pt x="1606890" y="0"/>
                  </a:lnTo>
                  <a:cubicBezTo>
                    <a:pt x="1611202" y="0"/>
                    <a:pt x="1615337" y="1713"/>
                    <a:pt x="1618386" y="4762"/>
                  </a:cubicBezTo>
                  <a:cubicBezTo>
                    <a:pt x="1621435" y="7810"/>
                    <a:pt x="1623147" y="11945"/>
                    <a:pt x="1623147" y="16257"/>
                  </a:cubicBezTo>
                  <a:lnTo>
                    <a:pt x="1623147" y="1014898"/>
                  </a:lnTo>
                  <a:cubicBezTo>
                    <a:pt x="1623147" y="1019209"/>
                    <a:pt x="1621435" y="1023344"/>
                    <a:pt x="1618386" y="1026393"/>
                  </a:cubicBezTo>
                  <a:cubicBezTo>
                    <a:pt x="1615337" y="1029442"/>
                    <a:pt x="1611202" y="1031155"/>
                    <a:pt x="1606890" y="1031155"/>
                  </a:cubicBezTo>
                  <a:lnTo>
                    <a:pt x="16257" y="1031155"/>
                  </a:lnTo>
                  <a:cubicBezTo>
                    <a:pt x="11945" y="1031155"/>
                    <a:pt x="7810" y="1029442"/>
                    <a:pt x="4762" y="1026393"/>
                  </a:cubicBezTo>
                  <a:cubicBezTo>
                    <a:pt x="1713" y="1023344"/>
                    <a:pt x="0" y="1019209"/>
                    <a:pt x="0" y="1014898"/>
                  </a:cubicBezTo>
                  <a:lnTo>
                    <a:pt x="0" y="16257"/>
                  </a:lnTo>
                  <a:cubicBezTo>
                    <a:pt x="0" y="11945"/>
                    <a:pt x="1713" y="7810"/>
                    <a:pt x="4762" y="4762"/>
                  </a:cubicBezTo>
                  <a:cubicBezTo>
                    <a:pt x="7810" y="1713"/>
                    <a:pt x="11945" y="0"/>
                    <a:pt x="16257" y="0"/>
                  </a:cubicBezTo>
                  <a:close/>
                </a:path>
              </a:pathLst>
            </a:custGeom>
            <a:blipFill>
              <a:blip r:embed="rId3"/>
              <a:stretch>
                <a:fillRect t="-2374" b="-2374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23613" y="904875"/>
            <a:ext cx="15635687" cy="71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1"/>
              </a:lnSpc>
              <a:spcBef>
                <a:spcPct val="0"/>
              </a:spcBef>
            </a:pPr>
            <a:r>
              <a:rPr lang="en-US" sz="3943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HOW DOES THE WHOLE SYSTEM WORK?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07544" y="2147754"/>
            <a:ext cx="12426474" cy="7151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3780" lvl="1" indent="-356890" algn="l">
              <a:lnSpc>
                <a:spcPts val="4628"/>
              </a:lnSpc>
              <a:buAutoNum type="arabicPeriod"/>
            </a:pPr>
            <a:r>
              <a:rPr lang="en-US" sz="33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PC gives the address of the instruction to be executed.</a:t>
            </a:r>
          </a:p>
          <a:p>
            <a:pPr marL="713780" lvl="1" indent="-356890" algn="l">
              <a:lnSpc>
                <a:spcPts val="4628"/>
              </a:lnSpc>
              <a:buAutoNum type="arabicPeriod"/>
            </a:pPr>
            <a:r>
              <a:rPr lang="en-US" sz="33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Instruction is fetched from ROM (or instruction memory).</a:t>
            </a:r>
          </a:p>
          <a:p>
            <a:pPr marL="713780" lvl="1" indent="-356890" algn="l">
              <a:lnSpc>
                <a:spcPts val="4628"/>
              </a:lnSpc>
              <a:buAutoNum type="arabicPeriod"/>
            </a:pPr>
            <a:r>
              <a:rPr lang="en-US" sz="33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 decodes the instruction and understands what operation is to be done.</a:t>
            </a:r>
          </a:p>
          <a:p>
            <a:pPr marL="713780" lvl="1" indent="-356890" algn="l">
              <a:lnSpc>
                <a:spcPts val="4628"/>
              </a:lnSpc>
              <a:buAutoNum type="arabicPeriod"/>
            </a:pPr>
            <a:r>
              <a:rPr lang="en-US" sz="33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 sends control signals to ALU and RAM.</a:t>
            </a:r>
          </a:p>
          <a:p>
            <a:pPr marL="713780" lvl="1" indent="-356890" algn="l">
              <a:lnSpc>
                <a:spcPts val="4628"/>
              </a:lnSpc>
              <a:buAutoNum type="arabicPeriod"/>
            </a:pPr>
            <a:r>
              <a:rPr lang="en-US" sz="33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ALU performs the operation (e.g., ADD two values from RAM).</a:t>
            </a:r>
          </a:p>
          <a:p>
            <a:pPr marL="713780" lvl="1" indent="-356890" algn="l">
              <a:lnSpc>
                <a:spcPts val="4628"/>
              </a:lnSpc>
              <a:buAutoNum type="arabicPeriod"/>
            </a:pPr>
            <a:r>
              <a:rPr lang="en-US" sz="33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 is stored back in RAM.</a:t>
            </a:r>
          </a:p>
          <a:p>
            <a:pPr marL="713780" lvl="1" indent="-356890" algn="l">
              <a:lnSpc>
                <a:spcPts val="4628"/>
              </a:lnSpc>
              <a:buAutoNum type="arabicPeriod"/>
            </a:pPr>
            <a:r>
              <a:rPr lang="en-US" sz="33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PC moves to the next instruction automatically, and the cycle continues.</a:t>
            </a:r>
          </a:p>
          <a:p>
            <a:pPr algn="l">
              <a:lnSpc>
                <a:spcPts val="6028"/>
              </a:lnSpc>
              <a:spcBef>
                <a:spcPct val="0"/>
              </a:spcBef>
            </a:pPr>
            <a:endParaRPr lang="en-US" sz="330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418263" y="887945"/>
            <a:ext cx="14355994" cy="8511111"/>
            <a:chOff x="0" y="0"/>
            <a:chExt cx="2199195" cy="1303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9195" cy="1303817"/>
            </a:xfrm>
            <a:custGeom>
              <a:avLst/>
              <a:gdLst/>
              <a:ahLst/>
              <a:cxnLst/>
              <a:rect l="l" t="t" r="r" b="b"/>
              <a:pathLst>
                <a:path w="2199195" h="1303817">
                  <a:moveTo>
                    <a:pt x="11864" y="0"/>
                  </a:moveTo>
                  <a:lnTo>
                    <a:pt x="2187331" y="0"/>
                  </a:lnTo>
                  <a:cubicBezTo>
                    <a:pt x="2193883" y="0"/>
                    <a:pt x="2199195" y="5312"/>
                    <a:pt x="2199195" y="11864"/>
                  </a:cubicBezTo>
                  <a:lnTo>
                    <a:pt x="2199195" y="1291953"/>
                  </a:lnTo>
                  <a:cubicBezTo>
                    <a:pt x="2199195" y="1298505"/>
                    <a:pt x="2193883" y="1303817"/>
                    <a:pt x="2187331" y="1303817"/>
                  </a:cubicBezTo>
                  <a:lnTo>
                    <a:pt x="11864" y="1303817"/>
                  </a:lnTo>
                  <a:cubicBezTo>
                    <a:pt x="8718" y="1303817"/>
                    <a:pt x="5700" y="1302567"/>
                    <a:pt x="3475" y="1300342"/>
                  </a:cubicBezTo>
                  <a:cubicBezTo>
                    <a:pt x="1250" y="1298117"/>
                    <a:pt x="0" y="1295100"/>
                    <a:pt x="0" y="1291953"/>
                  </a:cubicBezTo>
                  <a:lnTo>
                    <a:pt x="0" y="11864"/>
                  </a:lnTo>
                  <a:cubicBezTo>
                    <a:pt x="0" y="5312"/>
                    <a:pt x="5312" y="0"/>
                    <a:pt x="11864" y="0"/>
                  </a:cubicBezTo>
                  <a:close/>
                </a:path>
              </a:pathLst>
            </a:custGeom>
            <a:blipFill>
              <a:blip r:embed="rId3"/>
              <a:stretch>
                <a:fillRect l="-2457" t="-11611" r="-4898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23613" y="904875"/>
            <a:ext cx="15635687" cy="71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1"/>
              </a:lnSpc>
              <a:spcBef>
                <a:spcPct val="0"/>
              </a:spcBef>
            </a:pPr>
            <a:r>
              <a:rPr lang="en-US" sz="3943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INSTRUCTION EXECUTION CYCLE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07544" y="2128704"/>
            <a:ext cx="12426474" cy="5566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8"/>
              </a:lnSpc>
            </a:pPr>
            <a:endParaRPr/>
          </a:p>
          <a:p>
            <a:pPr marL="649012" lvl="1" indent="-324506" algn="l">
              <a:lnSpc>
                <a:spcPts val="4208"/>
              </a:lnSpc>
              <a:buFont typeface="Arial"/>
              <a:buChar char="•"/>
            </a:pPr>
            <a:r>
              <a:rPr lang="en-US" sz="30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Fetch: Instruction read from ROM via PC</a:t>
            </a:r>
          </a:p>
          <a:p>
            <a:pPr marL="649012" lvl="1" indent="-324506" algn="l">
              <a:lnSpc>
                <a:spcPts val="4208"/>
              </a:lnSpc>
              <a:buFont typeface="Arial"/>
              <a:buChar char="•"/>
            </a:pPr>
            <a:r>
              <a:rPr lang="en-US" sz="30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Decode: CU interprets instruction and prepares control signals</a:t>
            </a:r>
          </a:p>
          <a:p>
            <a:pPr marL="649012" lvl="1" indent="-324506" algn="l">
              <a:lnSpc>
                <a:spcPts val="4208"/>
              </a:lnSpc>
              <a:buFont typeface="Arial"/>
              <a:buChar char="•"/>
            </a:pPr>
            <a:r>
              <a:rPr lang="en-US" sz="30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Execute: ALU performs the operation</a:t>
            </a:r>
          </a:p>
          <a:p>
            <a:pPr marL="649012" lvl="1" indent="-324506" algn="l">
              <a:lnSpc>
                <a:spcPts val="4208"/>
              </a:lnSpc>
              <a:buFont typeface="Arial"/>
              <a:buChar char="•"/>
            </a:pPr>
            <a:r>
              <a:rPr lang="en-US" sz="30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Store: Output written back to RAM</a:t>
            </a:r>
          </a:p>
          <a:p>
            <a:pPr algn="l">
              <a:lnSpc>
                <a:spcPts val="4208"/>
              </a:lnSpc>
            </a:pPr>
            <a:endParaRPr lang="en-US" sz="300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08"/>
              </a:lnSpc>
            </a:pPr>
            <a:endParaRPr lang="en-US" sz="300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08"/>
              </a:lnSpc>
              <a:spcBef>
                <a:spcPct val="0"/>
              </a:spcBef>
            </a:pPr>
            <a:r>
              <a:rPr lang="en-US" sz="3006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                  Fetch → Decode → Execute → Store.</a:t>
            </a:r>
          </a:p>
          <a:p>
            <a:pPr algn="l">
              <a:lnSpc>
                <a:spcPts val="4208"/>
              </a:lnSpc>
              <a:spcBef>
                <a:spcPct val="0"/>
              </a:spcBef>
            </a:pPr>
            <a:endParaRPr lang="en-US" sz="3006" b="1" i="1">
              <a:solidFill>
                <a:srgbClr val="FFFFFF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66775"/>
            <a:ext cx="12322794" cy="941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3"/>
              </a:lnSpc>
              <a:spcBef>
                <a:spcPct val="0"/>
              </a:spcBef>
            </a:pPr>
            <a:r>
              <a:rPr lang="en-US" sz="5124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DESIGN CODE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31218" y="2809425"/>
            <a:ext cx="15225564" cy="739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This project is a basic CPU design made using Verilog HDL. It includes four main parts: a 32-bit ALU, RAM, a Control Unit (CU), and a Program Counter (PC). 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The ALU performs operations like addition, subtraction, AND, OR, etc., based on control signals. 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The RAM works as memory, storing data temporarily and either reading or writing based on a control signal. 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The Control Unit reads the instruction (opcode) and sends signals to the ALU and RAM to tell them what to do.</a:t>
            </a:r>
          </a:p>
          <a:p>
            <a:pPr algn="l">
              <a:lnSpc>
                <a:spcPts val="4619"/>
              </a:lnSpc>
            </a:pPr>
            <a:endParaRPr lang="en-US" sz="3299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619"/>
              </a:lnSpc>
            </a:pPr>
            <a:endParaRPr lang="en-US" sz="3299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919"/>
              </a:lnSpc>
            </a:pPr>
            <a:endParaRPr lang="en-US" sz="3299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3299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95731" y="2157067"/>
            <a:ext cx="15696537" cy="5578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ctr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The Program Counter keeps track of which instruction is being executed and moves to the next one automatically. </a:t>
            </a:r>
          </a:p>
          <a:p>
            <a:pPr marL="755644" lvl="1" indent="-377822" algn="ctr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All these parts are connected in the TopModule, which controls how data flows and how instructions are carried out one after another. </a:t>
            </a:r>
          </a:p>
          <a:p>
            <a:pPr marL="755644" lvl="1" indent="-377822" algn="ctr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This setup shows how a simple CPU fetches, decodes, executes, and stores instructions step by step.</a:t>
            </a:r>
          </a:p>
          <a:p>
            <a:pPr algn="ctr">
              <a:lnSpc>
                <a:spcPts val="4899"/>
              </a:lnSpc>
            </a:pPr>
            <a:endParaRPr lang="en-US" sz="3499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899"/>
              </a:lnSpc>
              <a:spcBef>
                <a:spcPct val="0"/>
              </a:spcBef>
            </a:pPr>
            <a:endParaRPr lang="en-US" sz="3499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0396" y="895350"/>
            <a:ext cx="14195787" cy="816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3"/>
              </a:lnSpc>
              <a:spcBef>
                <a:spcPct val="0"/>
              </a:spcBef>
            </a:pPr>
            <a:r>
              <a:rPr lang="en-US" sz="4495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TEST BENCH CODE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70646" y="2194194"/>
            <a:ext cx="13466338" cy="7564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The testbench is used to check how all parts of the mini CPU system—ALU, RAM, Control Unit, and Program Counter—work together inside the TopModule. 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It starts by setting up the inputs like clock, reset, opcode, operands (A and B), and memory address. 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A clock signal is created using an always block that flips every 5 nanoseconds to simulate real-time behavior. 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First, the system is reset, and then different instructions are tested one by one. 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Each instruction uses a 3-bit opcode, along with values for A, B, and an address. 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01341" y="1834238"/>
            <a:ext cx="13466338" cy="703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The testbench checks operations like ADD, SUB, AND, OR, and storing the result in memory. </a:t>
            </a:r>
          </a:p>
          <a:p>
            <a:pPr marL="777234" lvl="1" indent="-388617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The ALU does the calculations, the Control Unit sends the right signals, and RAM stores or reads data. </a:t>
            </a:r>
          </a:p>
          <a:p>
            <a:pPr marL="777234" lvl="1" indent="-388617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The Program Counter updates automatically to move to the next step. </a:t>
            </a:r>
          </a:p>
          <a:p>
            <a:pPr marL="777234" lvl="1" indent="-388617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The results, such as the ALU output, memory data, and PC value, are shown using $display for easy verification.</a:t>
            </a:r>
          </a:p>
          <a:p>
            <a:pPr marL="777234" lvl="1" indent="-388617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 This helps make sure all parts of the system are working correctly and in order.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02216" y="1270958"/>
            <a:ext cx="17829425" cy="1254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1"/>
              </a:lnSpc>
            </a:pPr>
            <a:r>
              <a:rPr lang="en-US" sz="3343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BENEFITS OF THE ADVANCED 32-BIT ALU </a:t>
            </a:r>
          </a:p>
          <a:p>
            <a:pPr algn="l">
              <a:lnSpc>
                <a:spcPts val="5101"/>
              </a:lnSpc>
              <a:spcBef>
                <a:spcPct val="0"/>
              </a:spcBef>
            </a:pPr>
            <a:endParaRPr lang="en-US" sz="3343">
              <a:solidFill>
                <a:srgbClr val="93B1A6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262207" y="1480428"/>
            <a:ext cx="12426474" cy="6627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8"/>
              </a:lnSpc>
            </a:pPr>
            <a:endParaRPr/>
          </a:p>
          <a:p>
            <a:pPr marL="778548" lvl="1" indent="-389274" algn="l">
              <a:lnSpc>
                <a:spcPts val="5048"/>
              </a:lnSpc>
              <a:spcBef>
                <a:spcPct val="0"/>
              </a:spcBef>
              <a:buFont typeface="Arial"/>
              <a:buChar char="•"/>
            </a:pPr>
            <a:r>
              <a:rPr lang="en-US" sz="36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Works Like a Mini Processor</a:t>
            </a:r>
          </a:p>
          <a:p>
            <a:pPr marL="778548" lvl="1" indent="-389274" algn="l">
              <a:lnSpc>
                <a:spcPts val="5048"/>
              </a:lnSpc>
              <a:spcBef>
                <a:spcPct val="0"/>
              </a:spcBef>
              <a:buFont typeface="Arial"/>
              <a:buChar char="•"/>
            </a:pPr>
            <a:r>
              <a:rPr lang="en-US" sz="36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Follows Instructions Automatically</a:t>
            </a:r>
          </a:p>
          <a:p>
            <a:pPr marL="778548" lvl="1" indent="-389274" algn="l">
              <a:lnSpc>
                <a:spcPts val="5048"/>
              </a:lnSpc>
              <a:spcBef>
                <a:spcPct val="0"/>
              </a:spcBef>
              <a:buFont typeface="Arial"/>
              <a:buChar char="•"/>
            </a:pPr>
            <a:r>
              <a:rPr lang="en-US" sz="36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Stores and Uses Data Quickly</a:t>
            </a:r>
          </a:p>
          <a:p>
            <a:pPr marL="778548" lvl="1" indent="-389274" algn="l">
              <a:lnSpc>
                <a:spcPts val="5048"/>
              </a:lnSpc>
              <a:spcBef>
                <a:spcPct val="0"/>
              </a:spcBef>
              <a:buFont typeface="Arial"/>
              <a:buChar char="•"/>
            </a:pPr>
            <a:r>
              <a:rPr lang="en-US" sz="36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Simulates Real CPU Behavior</a:t>
            </a:r>
          </a:p>
          <a:p>
            <a:pPr marL="778548" lvl="1" indent="-389274" algn="l">
              <a:lnSpc>
                <a:spcPts val="5048"/>
              </a:lnSpc>
              <a:spcBef>
                <a:spcPct val="0"/>
              </a:spcBef>
              <a:buFont typeface="Arial"/>
              <a:buChar char="•"/>
            </a:pPr>
            <a:r>
              <a:rPr lang="en-US" sz="36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Supports Sequential and Conditional Execution</a:t>
            </a:r>
          </a:p>
          <a:p>
            <a:pPr marL="778548" lvl="1" indent="-389274" algn="l">
              <a:lnSpc>
                <a:spcPts val="5048"/>
              </a:lnSpc>
              <a:spcBef>
                <a:spcPct val="0"/>
              </a:spcBef>
              <a:buFont typeface="Arial"/>
              <a:buChar char="•"/>
            </a:pPr>
            <a:r>
              <a:rPr lang="en-US" sz="36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Increased Functionality and Complexity Handling</a:t>
            </a:r>
          </a:p>
          <a:p>
            <a:pPr marL="778548" lvl="1" indent="-389274" algn="l">
              <a:lnSpc>
                <a:spcPts val="5048"/>
              </a:lnSpc>
              <a:spcBef>
                <a:spcPct val="0"/>
              </a:spcBef>
              <a:buFont typeface="Arial"/>
              <a:buChar char="•"/>
            </a:pPr>
            <a:r>
              <a:rPr lang="en-US" sz="36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Better Simulation of Real-world Processors</a:t>
            </a:r>
          </a:p>
          <a:p>
            <a:pPr marL="778548" lvl="1" indent="-389274" algn="l">
              <a:lnSpc>
                <a:spcPts val="5048"/>
              </a:lnSpc>
              <a:spcBef>
                <a:spcPct val="0"/>
              </a:spcBef>
              <a:buFont typeface="Arial"/>
              <a:buChar char="•"/>
            </a:pPr>
            <a:r>
              <a:rPr lang="en-US" sz="36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Enhanced Data Storage and Retrieval</a:t>
            </a:r>
          </a:p>
          <a:p>
            <a:pPr marL="778548" lvl="1" indent="-389274" algn="l">
              <a:lnSpc>
                <a:spcPts val="5048"/>
              </a:lnSpc>
              <a:spcBef>
                <a:spcPct val="0"/>
              </a:spcBef>
              <a:buFont typeface="Arial"/>
              <a:buChar char="•"/>
            </a:pPr>
            <a:r>
              <a:rPr lang="en-US" sz="36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Improved Instruction Execution Capability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76" b="-1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8575" y="904875"/>
            <a:ext cx="17829425" cy="678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1"/>
              </a:lnSpc>
              <a:spcBef>
                <a:spcPct val="0"/>
              </a:spcBef>
            </a:pPr>
            <a:r>
              <a:rPr lang="en-US" sz="3643">
                <a:solidFill>
                  <a:srgbClr val="93B1A6"/>
                </a:solidFill>
                <a:latin typeface="Horizon"/>
                <a:ea typeface="Horizon"/>
                <a:cs typeface="Horizon"/>
                <a:sym typeface="Horizon"/>
              </a:rPr>
              <a:t>CONCLUSION AND FUTURE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4202" y="2147754"/>
            <a:ext cx="15202735" cy="760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3780" lvl="1" indent="-356890" algn="l">
              <a:lnSpc>
                <a:spcPts val="4628"/>
              </a:lnSpc>
              <a:buFont typeface="Arial"/>
              <a:buChar char="•"/>
            </a:pPr>
            <a:r>
              <a:rPr lang="en-US" sz="33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Successfully enhanced the 32-bit ALU system by integrating the Control Unit (CU) and Program Counter (PC).</a:t>
            </a:r>
          </a:p>
          <a:p>
            <a:pPr marL="713780" lvl="1" indent="-356890" algn="l">
              <a:lnSpc>
                <a:spcPts val="4628"/>
              </a:lnSpc>
              <a:buFont typeface="Arial"/>
              <a:buChar char="•"/>
            </a:pPr>
            <a:r>
              <a:rPr lang="en-US" sz="33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Established a strong foundation for building a simple, programmable CPU capable of executing instructions and managing data flow.</a:t>
            </a:r>
          </a:p>
          <a:p>
            <a:pPr algn="l">
              <a:lnSpc>
                <a:spcPts val="4628"/>
              </a:lnSpc>
            </a:pPr>
            <a:endParaRPr lang="en-US" sz="3306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908"/>
              </a:lnSpc>
            </a:pPr>
            <a:r>
              <a:rPr lang="en-US" sz="3506" b="1" u="sng">
                <a:solidFill>
                  <a:srgbClr val="FDFEFE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Scope:</a:t>
            </a:r>
          </a:p>
          <a:p>
            <a:pPr marL="713780" lvl="1" indent="-356890" algn="l">
              <a:lnSpc>
                <a:spcPts val="4628"/>
              </a:lnSpc>
              <a:buFont typeface="Arial"/>
              <a:buChar char="•"/>
            </a:pPr>
            <a:r>
              <a:rPr lang="en-US" sz="33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Add instruction memory for storing programs separately.</a:t>
            </a:r>
          </a:p>
          <a:p>
            <a:pPr marL="713780" lvl="1" indent="-356890" algn="l">
              <a:lnSpc>
                <a:spcPts val="4628"/>
              </a:lnSpc>
              <a:buFont typeface="Arial"/>
              <a:buChar char="•"/>
            </a:pPr>
            <a:r>
              <a:rPr lang="en-US" sz="33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Implement pipelining to improve processing speed and efficiency.</a:t>
            </a:r>
          </a:p>
          <a:p>
            <a:pPr marL="713780" lvl="1" indent="-356890" algn="l">
              <a:lnSpc>
                <a:spcPts val="4628"/>
              </a:lnSpc>
              <a:buFont typeface="Arial"/>
              <a:buChar char="•"/>
            </a:pPr>
            <a:r>
              <a:rPr lang="en-US" sz="33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Introduce interrupt handling for better control and responsiveness.</a:t>
            </a:r>
          </a:p>
          <a:p>
            <a:pPr marL="713780" lvl="1" indent="-356890" algn="l">
              <a:lnSpc>
                <a:spcPts val="4628"/>
              </a:lnSpc>
              <a:buFont typeface="Arial"/>
              <a:buChar char="•"/>
            </a:pPr>
            <a:r>
              <a:rPr lang="en-US" sz="3306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Integrate input/output (I/O) ports to communicate with external devices.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endParaRPr lang="en-US" sz="3306">
              <a:solidFill>
                <a:srgbClr val="FDFEF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1255</Words>
  <Application>Microsoft Office PowerPoint</Application>
  <PresentationFormat>Custom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Poppins</vt:lpstr>
      <vt:lpstr>Calibri</vt:lpstr>
      <vt:lpstr>Poppins Bold Italics</vt:lpstr>
      <vt:lpstr>Arial</vt:lpstr>
      <vt:lpstr>Poppins Bold</vt:lpstr>
      <vt:lpstr>Horizon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Cyber Security Presentation</dc:title>
  <dc:creator>charishma sakhamuri</dc:creator>
  <cp:lastModifiedBy>charishma sakhamuri</cp:lastModifiedBy>
  <cp:revision>2</cp:revision>
  <dcterms:created xsi:type="dcterms:W3CDTF">2006-08-16T00:00:00Z</dcterms:created>
  <dcterms:modified xsi:type="dcterms:W3CDTF">2026-03-01T11:16:30Z</dcterms:modified>
  <dc:identifier>DAGprcJXn8g</dc:identifier>
</cp:coreProperties>
</file>